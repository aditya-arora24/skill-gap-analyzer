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arora" userId="71adfbd40540972e" providerId="LiveId" clId="{06D3E06E-0CDC-455A-A84C-E72328D990B3}"/>
    <pc:docChg chg="modSld">
      <pc:chgData name="aditya arora" userId="71adfbd40540972e" providerId="LiveId" clId="{06D3E06E-0CDC-455A-A84C-E72328D990B3}" dt="2026-05-14T23:52:50.043" v="3" actId="1076"/>
      <pc:docMkLst>
        <pc:docMk/>
      </pc:docMkLst>
      <pc:sldChg chg="modSp mod">
        <pc:chgData name="aditya arora" userId="71adfbd40540972e" providerId="LiveId" clId="{06D3E06E-0CDC-455A-A84C-E72328D990B3}" dt="2026-05-14T23:52:50.043" v="3" actId="1076"/>
        <pc:sldMkLst>
          <pc:docMk/>
          <pc:sldMk cId="0" sldId="256"/>
        </pc:sldMkLst>
        <pc:spChg chg="mod">
          <ac:chgData name="aditya arora" userId="71adfbd40540972e" providerId="LiveId" clId="{06D3E06E-0CDC-455A-A84C-E72328D990B3}" dt="2026-05-14T23:52:50.043" v="3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ditya arora" userId="71adfbd40540972e" providerId="LiveId" clId="{06D3E06E-0CDC-455A-A84C-E72328D990B3}" dt="2026-05-14T23:52:44.051" v="2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ditya arora" userId="71adfbd40540972e" providerId="LiveId" clId="{06D3E06E-0CDC-455A-A84C-E72328D990B3}" dt="2026-05-14T23:52:38.508" v="1" actId="1076"/>
          <ac:spMkLst>
            <pc:docMk/>
            <pc:sldMk cId="0" sldId="256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81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718408" y="86868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718408" y="868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SKILL-AWARE MATCHING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 candidates to jobs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they're actually </a:t>
            </a:r>
            <a:r>
              <a:rPr lang="en-US" sz="4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qualified</a:t>
            </a:r>
            <a:r>
              <a:rPr lang="en-US" sz="4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for.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two-stage retrieval-and-reranking system that scores resume–job pairs using semantic, lexical, and ESCO-grounded skill features.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</a:t>
            </a: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seekers</a:t>
            </a: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counselors</a:t>
            </a: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teams</a:t>
            </a: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anywhere a quantitative skill-gap diagnosis matters.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8048" y="4114800"/>
            <a:ext cx="1051560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8048" y="41148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SkillMatch Pipeline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048" y="4572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66648" y="4736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RETRIEVAL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6648" y="5029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SBERT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648" y="5271143"/>
            <a:ext cx="2834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top-50 candidate pairs per job from 2.1M possible pairs (all-MiniLM-L6-v2).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9928" y="4572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78528" y="4736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RERANKING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78528" y="5029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LogReg + 8 features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78528" y="5253228"/>
            <a:ext cx="2834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Semantic, lexical, skill-coverage, ESCO-weighted importance, experience, title similarity.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1808" y="4572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90408" y="4736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90408" y="5029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 Gap Diagnosis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90408" y="53263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probability + ranked missing skills + 2-year personalised roadmap.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6108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Applications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resume and a job description, predict whether the candidate is a good match.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screen 250+ resumes per role on average and reject 75% on primitive keyword matching. Job seekers see hundreds of postings with no systematic way to know which they're qualified for or what skills to develop.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two users: identify good matches at the recruiter end; quantify skill gaps at the candidate end.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29400" y="2130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JOB SEEKERS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Personalised job-fit scoring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761488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live postings by match probability. Surface skill gaps with importance weights.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24612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29400" y="3410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PLAKSHA PLACEMENT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Internship &amp; course mapping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4041648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students to internships; recommend electives by aligning transcripts with target-role skill graphs.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5262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9400" y="4690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CAREER COUNSELING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4983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2-year skill roadmap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5321808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gaps across target roles → quarterly learning plan with forward-simulation of match probability lift.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just produce a score — we tell candidates which skills to learn next.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Survey — three 2025 papers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DASH et al., IJEDR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Skill Gap Analyzer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31190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web app. BERT/RoBERTa NER + ESCO/O*NET ontologies. Reports 0.90 accuracy + 92% user satisfaction. Has course-recommendation engine.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36338" y="176479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DABERAO et al., GITCON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36338" y="205740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ResumeInsight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6338" y="2487168"/>
            <a:ext cx="31190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campus recruitment. spaCy + Levenshtein, RF/XGB/ANN classifier. K-Means cluster labels (a methodological weakness flagged in our review).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6837" y="160020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95437" y="176479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— SRIBHARATHI et al., ICSSS 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95437" y="205740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Scopira AI Career Platform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5437" y="2487168"/>
            <a:ext cx="31190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BERT, 4-module system with career-path generator. 0.918 accuracy claimed; 200+ user pilot. Outperforms LinkedIn Skills Match.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5410048" cy="201168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70332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UNITES THEM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023360"/>
            <a:ext cx="495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conceptual pipeline: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skills → semantic match → surface gap → recommend learning.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built for English IT/data-science roles. All evaluate on internal gold standards that are never disclosed.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3008" y="3520440"/>
            <a:ext cx="54100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61608" y="370332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OUR WORK ADVANCES THE FIELD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61608" y="4023360"/>
            <a:ext cx="495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3-LLM consensus labels (Claude+GPT+Gemini, κ=0.61)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Empirical leakage detection (CV 0.99 → test 0.44)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Head-to-head: weak / supervised / self-training / active learning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Inter-rater agreement disclosed; reproducible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6108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&amp; Preprocessing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21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764792"/>
            <a:ext cx="2602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2,484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(Kaggle, anonymized)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9394" y="1600200"/>
            <a:ext cx="26021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79394" y="1764792"/>
            <a:ext cx="2602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16554" y="23774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descriptions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(public corpus)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0148" y="1600200"/>
            <a:ext cx="26021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0148" y="1764792"/>
            <a:ext cx="2602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20,253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47308" y="23774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in vocabulary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(ESCO + O*NET + tech)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40901" y="1600200"/>
            <a:ext cx="26021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040901" y="1764792"/>
            <a:ext cx="2602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50,650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78061" y="23774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pairs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(diversified pool)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preprocessing fixes that materially improved data quality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377647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4A — JD YEARS-OF-EXPERIENCE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06908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Parse from model_response JSON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498848"/>
            <a:ext cx="31190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regex caught 0/853. After fix: 500/853 jobs have non-zero YoE.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07738" y="361188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36338" y="377647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4B — AMBIGUOUS TECH TOKENS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36338" y="406908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Raw-case + context check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36338" y="4498848"/>
            <a:ext cx="31190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like R, Go, Swift gated behind capitalization OR tech-context window. 654 false positives removed.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66837" y="361188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95437" y="377647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4C — RESUME TITLES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95437" y="406908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First-line instead of Category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95437" y="4498848"/>
            <a:ext cx="31190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using broad Category column (7,286 unique). First-line extraction lifted unique title-similarity values to 31,254.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 vocabulary expansion lifted skill_overlap &gt; 0 from 36% to 68% of pairs.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— Two-Stage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4572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RETRIEVAL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SBERT semantic similarity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all-MiniLM-L6-v2 (384-dim, ~22M params)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2.12M possible pairs → top 50 per job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~3ms per text on CPU; full matrix &lt;1s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50× reduction in candidate space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2510028"/>
            <a:ext cx="457200" cy="32918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029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228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RERANKING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 Regression on 8 features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Trained on 600 LLM-consensus labels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Class-balanced, CV threshold = 0.52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Inference &lt;1ms per pair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Outputs match probability + skill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8 features (4 channels):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2670734" cy="1508760"/>
          </a:xfrm>
          <a:prstGeom prst="roundRect">
            <a:avLst>
              <a:gd name="adj" fmla="val 484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4507992"/>
            <a:ext cx="2396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828032"/>
            <a:ext cx="2396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embedding_similarity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title_similarity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56534" y="4370832"/>
            <a:ext cx="2670734" cy="1508760"/>
          </a:xfrm>
          <a:prstGeom prst="roundRect">
            <a:avLst>
              <a:gd name="adj" fmla="val 484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93694" y="4507992"/>
            <a:ext cx="2396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694" y="4828032"/>
            <a:ext cx="2396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tfidf_similarity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4428" y="4370832"/>
            <a:ext cx="2670734" cy="1508760"/>
          </a:xfrm>
          <a:prstGeom prst="roundRect">
            <a:avLst>
              <a:gd name="adj" fmla="val 484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01588" y="4507992"/>
            <a:ext cx="2396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1588" y="4828032"/>
            <a:ext cx="2396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skill_overlap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weighted_skill_score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num_missing_skills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avg_missing_skill_importance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72321" y="4370832"/>
            <a:ext cx="2670734" cy="1508760"/>
          </a:xfrm>
          <a:prstGeom prst="roundRect">
            <a:avLst>
              <a:gd name="adj" fmla="val 484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09481" y="4507992"/>
            <a:ext cx="2396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09481" y="4828032"/>
            <a:ext cx="2396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years_of_experience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Journey — five strategies tested</a:t>
            </a:r>
            <a:endParaRPr lang="en-US" sz="2400" dirty="0"/>
          </a:p>
        </p:txBody>
      </p:sp>
      <p:pic>
        <p:nvPicPr>
          <p:cNvPr id="6" name="Image 0" descr="/sessions/eager-gifted-dirac/mnt/MLPR PROJECT/outputs/presentation/04_methodology_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1323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55448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863840" y="155448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01000" y="16184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WEAK SUPERVISION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01000" y="181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 labels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20574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F1=0.44 · CV-test gap 0.55 (leakage)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0" y="2414016"/>
            <a:ext cx="9144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863840" y="2414016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001000" y="24780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LLM SUPERVISED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01000" y="2670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 LLM labels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01000" y="291693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F1=0.704 · +10 over SBERT baseline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0" y="3273552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863840" y="327355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001000" y="33375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SELF-TRAIN v1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01000" y="35295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Absolute threshold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01000" y="37764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F1=0.564 · class balance flipped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772400" y="4133088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7863840" y="413308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8001000" y="41970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SELF-TRAIN v2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01000" y="43891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Percentile + diversified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01000" y="4636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F1=0.579 · hard cases excluded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772400" y="4992624"/>
            <a:ext cx="9144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7863840" y="499262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8001000" y="50566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ACTIVE LEARNING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001000" y="52486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Uncertainty-band sampling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001000" y="54955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F1=0.769 · +6.5 over supervised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Confidence-based selection (self-training) fails. Uncertainty-based selection (active learning) wins. Same label budget — opposite mechanisms.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Results — F1 = 0.769 on 100-pair LLM gold standard</a:t>
            </a:r>
            <a:endParaRPr lang="en-US" sz="2400" dirty="0"/>
          </a:p>
        </p:txBody>
      </p:sp>
      <p:pic>
        <p:nvPicPr>
          <p:cNvPr id="6" name="Image 0" descr="/sessions/eager-gifted-dirac/mnt/MLPR PROJECT/outputs/presentation/02_main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685800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554480"/>
            <a:ext cx="4297680" cy="1463040"/>
          </a:xfrm>
          <a:prstGeom prst="roundRect">
            <a:avLst>
              <a:gd name="adj" fmla="val 62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68096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F1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0" y="1920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0.769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7498080" y="320040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680960" y="3291840"/>
            <a:ext cx="2363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SBERT-ONLY BASELINE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0" y="3520440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learning beats semantic-similarity-only by 16.5 percentage points.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953244" y="329184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+0.165 F1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498080" y="4041648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680960" y="4133088"/>
            <a:ext cx="2363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SUPERVISED BASELINE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80960" y="4361688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uncertainty-band labels added 6.6 F1 points on top of 400-label baseline.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953244" y="4133088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+0.066 F1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confusion matrix:  TP=20, FN=2, FP=10, TN=68  ·  Precision=0.667, Recall=0.909, P@10=0.90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Importance — Do skill features add real signal?</a:t>
            </a:r>
            <a:endParaRPr lang="en-US" sz="2400" dirty="0"/>
          </a:p>
        </p:txBody>
      </p:sp>
      <p:pic>
        <p:nvPicPr>
          <p:cNvPr id="6" name="Image 0" descr="/sessions/eager-gifted-dirac/mnt/MLPR PROJECT/outputs/presentation/06_sbert_vs_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17320"/>
            <a:ext cx="484632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6126480" cy="1783080"/>
          </a:xfrm>
          <a:prstGeom prst="roundRect">
            <a:avLst>
              <a:gd name="adj" fmla="val 410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77240" y="15361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CRITIQUE TO ADDRESS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18013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model is just SBERT dressed up with extra features."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Empirically refuted: a LogReg trained on the 7 non-SBERT features achieves F1=0.706 — beating an SBERT-only LogReg (F1=0.628) by 7.8 points.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independent feature-importance methods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357621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85800" y="4800600"/>
            <a:ext cx="3301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507492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embedding_similarity = +0.98 (largest). skill_overlap = +0.72. Multicollinearity between skill_overlap &amp; weighted_skill_score.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7738" y="4709160"/>
            <a:ext cx="357621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444898" y="4800600"/>
            <a:ext cx="3301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44898" y="507492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embedding=0.25, title=0.12, num_missing_skills=0.11. SBERT strongest, but 5 features all contribute 0.05–0.12.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66837" y="4709160"/>
            <a:ext cx="357621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203997" y="4800600"/>
            <a:ext cx="3301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03997" y="507492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title_similarity: −0.116 F1. Drop num_missing_skills: −0.088. Drop embedding: −0.063. Title hurts more than SBERT.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features alone outperform SBERT alone by +7.8 F1. The senior's hypothesis is refuted with concrete numbers.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Labeling &amp; Why a Reranker is Needed</a:t>
            </a:r>
            <a:endParaRPr lang="en-US" sz="2400" dirty="0"/>
          </a:p>
        </p:txBody>
      </p:sp>
      <p:pic>
        <p:nvPicPr>
          <p:cNvPr id="6" name="Image 0" descr="/sessions/eager-gifted-dirac/mnt/MLPR PROJECT/outputs/presentation/08_per_sourc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69494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55448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680960" y="1645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47.5%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68096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SBERT top-50 retrievals are real matches per LLM consensus — the rest are plausible-looking false positives.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315468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68096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3-LLM CONSENSUS — 500-PAIR GOLD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80960" y="35204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Unanimous (3-0):  </a:t>
            </a: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71.0%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Disputed (2-1):  </a:t>
            </a: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29.0%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pairwise:    </a:t>
            </a: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80.7%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Chance-adjusted κ:</a:t>
            </a: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0.61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pos rate:  </a:t>
            </a:r>
            <a:r>
              <a:rPr lang="en-US" sz="11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22.4%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 pos rate:     </a:t>
            </a:r>
            <a:r>
              <a:rPr lang="en-US" sz="11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13.6%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pos rate:  </a:t>
            </a:r>
            <a:r>
              <a:rPr lang="en-US" sz="11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26.6%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SBERT is great at retrieval — but loses precision at the top of the ranked list. A reranker fills that gap.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Deployability — Dashboard &amp; Plaksha Use Cases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6692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PATH DASHBOARD (PROTOTYPE)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2140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377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+ percentile rank vs other candidates for that role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163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 gap report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90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you have + missing skills ranked by ESCO importance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478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5295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2-year roadmap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8039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skill plan aggregated across top-5 target jobs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6110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2428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Forward simulation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1713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Re-scores you after adding learned skills (real model prediction)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Plaksha-specific scenarios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0" y="1874520"/>
            <a:ext cx="5212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12280" y="2039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PORTAL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2331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Internship matching tool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2670048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student logs in, surface top-K live internship matches with per-job skill-gap reports.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300984"/>
            <a:ext cx="5212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12280" y="3465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PLANNING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3758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Course-to-career mapping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4096512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transcript + target role (e.g. ML engineer), recommend electives next semester.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727448"/>
            <a:ext cx="5212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1228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ADVISORY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5184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Skill-development advisor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12280" y="5522976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gaps across student's top-10 dream jobs → 5 highest-impact skills to learn.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64592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81448" y="164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killMatch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Known limitations (disclosed honestly)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is small (N=100); F1 confidence ≈ ±0.07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consensus is correlated noise, not ground truth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vocabulary still contains residual noise tokens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predictions can be domain-incoherent (dashboard adds category filter)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English-only, IT-heavy corpus; cross-domain transfer untested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real-world deployment validation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work (tied to literature-survey gaps)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74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29400" y="2039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VALIDATION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Cohort study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651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follow-up: does following recommendations actually change employment?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273552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29400" y="3438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TRANSFER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3730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Cross-industry test 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40507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legal, creative — beyond English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672584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9400" y="4837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5129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Demographic disaggregation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544982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Per-group precision/recall; published audit.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7150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Resume–job matching is fundamentally subjective.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system that quantifies the gap honestly — and tells candidates which skills to learn next.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SkillMatch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Endterm Project Evaluation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MLPR 2026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   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1616</Words>
  <Application>Microsoft Office PowerPoint</Application>
  <PresentationFormat>Widescreen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SkillMatch — Two-Stage Skill-Aware Reranker</dc:title>
  <dc:subject>PptxGenJS Presentation</dc:subject>
  <dc:creator>MLPR Project Team</dc:creator>
  <cp:lastModifiedBy>aditya arora</cp:lastModifiedBy>
  <cp:revision>1</cp:revision>
  <dcterms:created xsi:type="dcterms:W3CDTF">2026-05-14T23:31:12Z</dcterms:created>
  <dcterms:modified xsi:type="dcterms:W3CDTF">2026-05-14T23:52:55Z</dcterms:modified>
</cp:coreProperties>
</file>